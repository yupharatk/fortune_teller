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66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89136" y="73152"/>
            <a:ext cx="54864" cy="5070348"/>
          </a:xfrm>
          <a:prstGeom prst="rect">
            <a:avLst/>
          </a:prstGeom>
          <a:solidFill>
            <a:srgbClr val="66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65760"/>
            <a:ext cx="8229600" cy="438912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65760"/>
            <a:ext cx="822960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50292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D4A017"/>
                </a:solidFill>
                <a:latin typeface="Tahoma"/>
              </a:rPr>
              <a:t>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4A017"/>
                </a:solidFill>
                <a:latin typeface="Tahoma"/>
              </a:rPr>
              <a:t>★  ✦  ◆  ✦  ★  ✦  ◆  ✦  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D4A017"/>
                </a:solidFill>
                <a:latin typeface="Tahoma"/>
              </a:rPr>
              <a:t>นำโชค Fortune Teller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866EE"/>
                </a:solidFill>
                <a:latin typeface="Tahoma"/>
              </a:rPr>
              <a:t>โปรแกรมดูดวงสไตล์ Pixel Art RPG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988CC"/>
                </a:solidFill>
                <a:latin typeface="Tahoma"/>
              </a:rPr>
              <a:t>แมวดำผู้ทรงพลังนามว่า "นำโชค" ผู้ทำนายดวงชะตาในหมวดหมู่ความรัก  การงาน  การเงิน  และการเรียน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749039"/>
            <a:ext cx="1463040" cy="594360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3749039"/>
            <a:ext cx="1463040" cy="36576"/>
          </a:xfrm>
          <a:prstGeom prst="rect">
            <a:avLst/>
          </a:prstGeom>
          <a:solidFill>
            <a:srgbClr val="CC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94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C3366"/>
                </a:solidFill>
                <a:latin typeface="Tahoma"/>
              </a:rPr>
              <a:t>❤  ความรัก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3749039"/>
            <a:ext cx="1463040" cy="594360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3749039"/>
            <a:ext cx="1463040" cy="36576"/>
          </a:xfrm>
          <a:prstGeom prst="rect">
            <a:avLst/>
          </a:prstGeom>
          <a:solidFill>
            <a:srgbClr val="33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3794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377DD"/>
                </a:solidFill>
                <a:latin typeface="Tahoma"/>
              </a:rPr>
              <a:t>♦  การงาน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3749039"/>
            <a:ext cx="1463040" cy="594360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3749039"/>
            <a:ext cx="1463040" cy="36576"/>
          </a:xfrm>
          <a:prstGeom prst="rect">
            <a:avLst/>
          </a:prstGeom>
          <a:solidFill>
            <a:srgbClr val="CC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3794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CAA00"/>
                </a:solidFill>
                <a:latin typeface="Tahoma"/>
              </a:rPr>
              <a:t>★  การเงิน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3749039"/>
            <a:ext cx="1463040" cy="594360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3749039"/>
            <a:ext cx="1463040" cy="36576"/>
          </a:xfrm>
          <a:prstGeom prst="rect">
            <a:avLst/>
          </a:prstGeom>
          <a:solidFill>
            <a:srgbClr val="22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7947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BB66"/>
                </a:solidFill>
                <a:latin typeface="Tahoma"/>
              </a:rPr>
              <a:t>▲  การเรียน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34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A2A5A"/>
                </a:solidFill>
                <a:latin typeface="Tahoma"/>
              </a:rPr>
              <a:t>★  ✦  ◆  ✦  ★  ✦  ◆  ✦  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66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  <a:latin typeface="Tahoma"/>
              </a:rPr>
              <a:t>◆  วัตถุประสงค์ของโปรเจกต์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4206240" cy="192024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85800"/>
            <a:ext cx="64008" cy="1920240"/>
          </a:xfrm>
          <a:prstGeom prst="rect">
            <a:avLst/>
          </a:prstGeom>
          <a:solidFill>
            <a:srgbClr val="66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75895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6644CC"/>
                </a:solidFill>
                <a:latin typeface="Tahoma"/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77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644CC"/>
                </a:solidFill>
                <a:latin typeface="Tahoma"/>
              </a:rPr>
              <a:t>ระบบ Client-Server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1188720"/>
            <a:ext cx="3840480" cy="22860"/>
          </a:xfrm>
          <a:prstGeom prst="rect">
            <a:avLst/>
          </a:prstGeom>
          <a:solidFill>
            <a:srgbClr val="2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280160"/>
            <a:ext cx="3886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8E4F0"/>
                </a:solidFill>
                <a:latin typeface="Tahoma"/>
              </a:rPr>
              <a:t>สร้างโปรแกรมดูดวงแบบ Client-Server ที่สื่อสารผ่าน TCP Socket โดย Server ทำนายดวงและส่งผลกลับ Client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685800"/>
            <a:ext cx="4206240" cy="192024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9160" y="685800"/>
            <a:ext cx="64008" cy="19202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3752" y="75895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D4A017"/>
                </a:solidFill>
                <a:latin typeface="Tahoma"/>
              </a:rPr>
              <a:t>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777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A017"/>
                </a:solidFill>
                <a:latin typeface="Tahoma"/>
              </a:rPr>
              <a:t>เครื่องยนต์ทำนายดวง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3752" y="1188720"/>
            <a:ext cx="3840480" cy="22860"/>
          </a:xfrm>
          <a:prstGeom prst="rect">
            <a:avLst/>
          </a:prstGeom>
          <a:solidFill>
            <a:srgbClr val="2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3752" y="1280160"/>
            <a:ext cx="3886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8E4F0"/>
                </a:solidFill>
                <a:latin typeface="Tahoma"/>
              </a:rPr>
              <a:t>พัฒนา Fortune Engine ที่คำนวณราศีจากวันเกิด เลือก template ตามธาตุ และคำนวณสิ่งมงคลด้วย Numerology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788920"/>
            <a:ext cx="4206240" cy="192024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788920"/>
            <a:ext cx="64008" cy="1920240"/>
          </a:xfrm>
          <a:prstGeom prst="rect">
            <a:avLst/>
          </a:prstGeom>
          <a:solidFill>
            <a:srgbClr val="CC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28620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CC3366"/>
                </a:solidFill>
                <a:latin typeface="Tahoma"/>
              </a:rPr>
              <a:t>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C3366"/>
                </a:solidFill>
                <a:latin typeface="Tahoma"/>
              </a:rPr>
              <a:t>GUI สวยงาม (Pixel Art RPG)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" y="3291839"/>
            <a:ext cx="3840480" cy="22860"/>
          </a:xfrm>
          <a:prstGeom prst="rect">
            <a:avLst/>
          </a:prstGeom>
          <a:solidFill>
            <a:srgbClr val="2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383279"/>
            <a:ext cx="3886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8E4F0"/>
                </a:solidFill>
                <a:latin typeface="Tahoma"/>
              </a:rPr>
              <a:t>ออกแบบ GUI ด้วย customtkinter สไตล์ Pixel Art พร้อม Animation ต่างๆ เช่น Typewriter, Progress Bar, Cat Float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2788920"/>
            <a:ext cx="4206240" cy="192024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09160" y="2788920"/>
            <a:ext cx="64008" cy="1920240"/>
          </a:xfrm>
          <a:prstGeom prst="rect">
            <a:avLst/>
          </a:prstGeom>
          <a:solidFill>
            <a:srgbClr val="22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3752" y="28620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22BB66"/>
                </a:solidFill>
                <a:latin typeface="Tahoma"/>
              </a:rPr>
              <a:t>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BB66"/>
                </a:solidFill>
                <a:latin typeface="Tahoma"/>
              </a:rPr>
              <a:t>ออกรายงานเป็น PDF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73752" y="3291839"/>
            <a:ext cx="3840480" cy="22860"/>
          </a:xfrm>
          <a:prstGeom prst="rect">
            <a:avLst/>
          </a:prstGeom>
          <a:solidFill>
            <a:srgbClr val="2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73752" y="3383279"/>
            <a:ext cx="3886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8E4F0"/>
                </a:solidFill>
                <a:latin typeface="Tahoma"/>
              </a:rPr>
              <a:t>สร้าง PDF ผลทำนายดวงสวยงามด้วย ReportLab พร้อมฟอนต์ภาษาไทย และ Layout แบบ Dark Theme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88CC"/>
                </a:solidFill>
                <a:latin typeface="Tahoma"/>
              </a:rPr>
              <a:t>★ นำโชค Fortune Teller  |  Pixel Art RPG Fortune System 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  <a:latin typeface="Tahoma"/>
              </a:rPr>
              <a:t>◆  โครงสร้างระบบ (Architecture)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3474720" cy="3977639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85800"/>
            <a:ext cx="3474720" cy="54864"/>
          </a:xfrm>
          <a:prstGeom prst="rect">
            <a:avLst/>
          </a:prstGeom>
          <a:solidFill>
            <a:srgbClr val="33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132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377DD"/>
                </a:solidFill>
                <a:latin typeface="Tahoma"/>
              </a:rPr>
              <a:t>💻  CLIENT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3108960" cy="822960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45720" cy="822960"/>
          </a:xfrm>
          <a:prstGeom prst="rect">
            <a:avLst/>
          </a:prstGeom>
          <a:solidFill>
            <a:srgbClr val="88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866EE"/>
                </a:solidFill>
                <a:latin typeface="Tahoma"/>
              </a:rPr>
              <a:t>client.py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184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88CC"/>
                </a:solidFill>
                <a:latin typeface="Tahoma"/>
              </a:rPr>
              <a:t>GUI หลัก (customtkinter)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3108960" cy="822960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40280"/>
            <a:ext cx="45720" cy="822960"/>
          </a:xfrm>
          <a:prstGeom prst="rect">
            <a:avLst/>
          </a:prstGeom>
          <a:solidFill>
            <a:srgbClr val="CC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860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AA00"/>
                </a:solidFill>
                <a:latin typeface="Tahoma"/>
              </a:rPr>
              <a:t>printer.py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243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88CC"/>
                </a:solidFill>
                <a:latin typeface="Tahoma"/>
              </a:rPr>
              <a:t>สร้าง PDF (ReportLab)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37560"/>
            <a:ext cx="3108960" cy="1188720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015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866EE"/>
                </a:solidFill>
                <a:latin typeface="Tahoma"/>
              </a:rPr>
              <a:t>🎨  Animation Effects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49039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4F0"/>
                </a:solidFill>
                <a:latin typeface="Tahoma"/>
              </a:rPr>
              <a:t>• Typewriter Effect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941063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4F0"/>
                </a:solidFill>
                <a:latin typeface="Tahoma"/>
              </a:rPr>
              <a:t>• Pixel Progress Bar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33087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4F0"/>
                </a:solidFill>
                <a:latin typeface="Tahoma"/>
              </a:rPr>
              <a:t>• Cat Float Animation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2511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4F0"/>
                </a:solidFill>
                <a:latin typeface="Tahoma"/>
              </a:rPr>
              <a:t>• Blink &amp; Stars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2194560"/>
            <a:ext cx="146304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1828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4A017"/>
                </a:solidFill>
                <a:latin typeface="Tahoma"/>
              </a:rPr>
              <a:t>JSON/TCP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08483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4A017"/>
                </a:solidFill>
                <a:latin typeface="Tahoma"/>
              </a:rPr>
              <a:t>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4A017"/>
                </a:solidFill>
                <a:latin typeface="Tahoma"/>
              </a:rPr>
              <a:t>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2423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988CC"/>
                </a:solidFill>
                <a:latin typeface="Tahoma"/>
              </a:rPr>
              <a:t>Port 9999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60" y="685800"/>
            <a:ext cx="3474720" cy="3977639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94960" y="685800"/>
            <a:ext cx="3474720" cy="54864"/>
          </a:xfrm>
          <a:prstGeom prst="rect">
            <a:avLst/>
          </a:prstGeom>
          <a:solidFill>
            <a:srgbClr val="22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7132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2BB66"/>
                </a:solidFill>
                <a:latin typeface="Tahoma"/>
              </a:rPr>
              <a:t>🖥  SERVER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1234440"/>
            <a:ext cx="3108960" cy="749808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77840" y="1234440"/>
            <a:ext cx="45720" cy="749808"/>
          </a:xfrm>
          <a:prstGeom prst="rect">
            <a:avLst/>
          </a:prstGeom>
          <a:solidFill>
            <a:srgbClr val="22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42432" y="12801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BB66"/>
                </a:solidFill>
                <a:latin typeface="Tahoma"/>
              </a:rPr>
              <a:t>server.py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42432" y="16184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988CC"/>
                </a:solidFill>
                <a:latin typeface="Tahoma"/>
              </a:rPr>
              <a:t>TCP Server + Multi-threading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2121408"/>
            <a:ext cx="3108960" cy="749808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77840" y="2121408"/>
            <a:ext cx="45720" cy="749808"/>
          </a:xfrm>
          <a:prstGeom prst="rect">
            <a:avLst/>
          </a:prstGeom>
          <a:solidFill>
            <a:srgbClr val="CC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42432" y="216712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3366"/>
                </a:solidFill>
                <a:latin typeface="Tahoma"/>
              </a:rPr>
              <a:t>fortune_engine.py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42432" y="25054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988CC"/>
                </a:solidFill>
                <a:latin typeface="Tahoma"/>
              </a:rPr>
              <a:t>ทำนายดวง (Zodiac + Numerology)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3008376"/>
            <a:ext cx="3108960" cy="749808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77840" y="3008376"/>
            <a:ext cx="45720" cy="749808"/>
          </a:xfrm>
          <a:prstGeom prst="rect">
            <a:avLst/>
          </a:prstGeom>
          <a:solidFill>
            <a:srgbClr val="CC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42432" y="305409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AA00"/>
                </a:solidFill>
                <a:latin typeface="Tahoma"/>
              </a:rPr>
              <a:t>validator.py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42432" y="33924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988CC"/>
                </a:solidFill>
                <a:latin typeface="Tahoma"/>
              </a:rPr>
              <a:t>ตรวจสอบ Input (Regex)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3886200"/>
            <a:ext cx="3108960" cy="640080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0" y="395020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A5A"/>
                </a:solidFill>
                <a:latin typeface="Tahoma"/>
              </a:rPr>
              <a:t>🔒  SO_REUSEADDR  |  daemon=True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4846320"/>
            <a:ext cx="914400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88CC"/>
                </a:solidFill>
                <a:latin typeface="Tahoma"/>
              </a:rPr>
              <a:t>TCP IPv4 (AF_INET / SOCK_STREAM)  •  JSON Serialization  •  Multi-Client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22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BB66"/>
                </a:solidFill>
                <a:latin typeface="Tahoma"/>
              </a:rPr>
              <a:t>🖥  เทคนิคที่ใช้ฝั่ง Server  —  เพราะอะไรถึงเลือกใช้?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4251960" cy="192024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4251960" cy="45720"/>
          </a:xfrm>
          <a:prstGeom prst="rect">
            <a:avLst/>
          </a:prstGeom>
          <a:solidFill>
            <a:srgbClr val="33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658368"/>
            <a:ext cx="54864" cy="1920240"/>
          </a:xfrm>
          <a:prstGeom prst="rect">
            <a:avLst/>
          </a:prstGeom>
          <a:solidFill>
            <a:srgbClr val="33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3151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77DD"/>
                </a:solidFill>
                <a:latin typeface="Tahoma"/>
              </a:rP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74980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77DD"/>
                </a:solidFill>
                <a:latin typeface="Tahoma"/>
              </a:rPr>
              <a:t>TCP Socket (AF_INET / SOCK_STREAM)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61288"/>
            <a:ext cx="3931920" cy="22860"/>
          </a:xfrm>
          <a:prstGeom prst="rect">
            <a:avLst/>
          </a:prstGeom>
          <a:solidFill>
            <a:srgbClr val="2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52728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E4F0"/>
                </a:solidFill>
                <a:latin typeface="Tahoma"/>
              </a:rPr>
              <a:t>✦ ทำไม: เพราะต้องการความน่าเชื่อถือสูง — TCP รับประกันข้อมูลครบ ไม่หาย ไม่ซ้ำ เหมาะกับการส่งผลดวงที่ต้องถูกต้อง 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56815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88CC"/>
                </a:solidFill>
                <a:latin typeface="Tahoma"/>
              </a:rPr>
              <a:t>⌨ วิธีใช้: socket.socket(AF_INET, SOCK_STREAM)  |  server.listen(5)  |  SO_REUSEADDR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658368"/>
            <a:ext cx="4251960" cy="192024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60" y="658368"/>
            <a:ext cx="4251960" cy="45720"/>
          </a:xfrm>
          <a:prstGeom prst="rect">
            <a:avLst/>
          </a:prstGeom>
          <a:solidFill>
            <a:srgbClr val="CC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09160" y="658368"/>
            <a:ext cx="54864" cy="1920240"/>
          </a:xfrm>
          <a:prstGeom prst="rect">
            <a:avLst/>
          </a:prstGeom>
          <a:solidFill>
            <a:srgbClr val="CC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73151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3366"/>
                </a:solidFill>
                <a:latin typeface="Tahoma"/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74980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3366"/>
                </a:solidFill>
                <a:latin typeface="Tahoma"/>
              </a:rPr>
              <a:t>Multi-threading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161288"/>
            <a:ext cx="3931920" cy="22860"/>
          </a:xfrm>
          <a:prstGeom prst="rect">
            <a:avLst/>
          </a:prstGeom>
          <a:solidFill>
            <a:srgbClr val="2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1252728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E4F0"/>
                </a:solidFill>
                <a:latin typeface="Tahoma"/>
              </a:rPr>
              <a:t>✦ ทำไม: เพราะต้องรองรับ Client หลายคนพร้อมกัน — ถ้าไม่ใช้ Thread Client ต้องรอกันเป็นคิว ระบบจะช้า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956815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88CC"/>
                </a:solidFill>
                <a:latin typeface="Tahoma"/>
              </a:rPr>
              <a:t>⌨ วิธีใช้: threading.Thread(target=handle_client, daemon=True)  →  แต่ละ Client ได้ Thread แยก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761487"/>
            <a:ext cx="4251960" cy="192024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2761487"/>
            <a:ext cx="4251960" cy="45720"/>
          </a:xfrm>
          <a:prstGeom prst="rect">
            <a:avLst/>
          </a:prstGeom>
          <a:solidFill>
            <a:srgbClr val="CC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2761487"/>
            <a:ext cx="54864" cy="1920240"/>
          </a:xfrm>
          <a:prstGeom prst="rect">
            <a:avLst/>
          </a:prstGeom>
          <a:solidFill>
            <a:srgbClr val="CC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83463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AA00"/>
                </a:solidFill>
                <a:latin typeface="Tahoma"/>
              </a:rPr>
              <a:t>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852927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AA00"/>
                </a:solidFill>
                <a:latin typeface="Tahoma"/>
              </a:rPr>
              <a:t>Regex Validation (validator.py)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264407"/>
            <a:ext cx="3931920" cy="22860"/>
          </a:xfrm>
          <a:prstGeom prst="rect">
            <a:avLst/>
          </a:prstGeom>
          <a:solidFill>
            <a:srgbClr val="2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355847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E4F0"/>
                </a:solidFill>
                <a:latin typeface="Tahoma"/>
              </a:rPr>
              <a:t>✦ ทำไม: เพราะต้องกรองข้อมูลผิดรูปแบบก่อน Engine ทำงาน — ป้องกัน crash และแจ้ง error แบบละเอียดทุก field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059935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88CC"/>
                </a:solidFill>
                <a:latin typeface="Tahoma"/>
              </a:rPr>
              <a:t>⌨ วิธีใช้: r'^[ก-๙a-zA-Z\s.\-]+$'  |  r'^\d{4}-\d{2}-\d{2}$'  →  validate_all() ตรวจพร้อมกัน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2761487"/>
            <a:ext cx="4251960" cy="192024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09160" y="2761487"/>
            <a:ext cx="4251960" cy="45720"/>
          </a:xfrm>
          <a:prstGeom prst="rect">
            <a:avLst/>
          </a:prstGeom>
          <a:solidFill>
            <a:srgbClr val="22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9160" y="2761487"/>
            <a:ext cx="54864" cy="1920240"/>
          </a:xfrm>
          <a:prstGeom prst="rect">
            <a:avLst/>
          </a:prstGeom>
          <a:solidFill>
            <a:srgbClr val="22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83463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BB66"/>
                </a:solidFill>
                <a:latin typeface="Tahoma"/>
              </a:rPr>
              <a:t>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2852927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BB66"/>
                </a:solidFill>
                <a:latin typeface="Tahoma"/>
              </a:rPr>
              <a:t>JSON Protocol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3264407"/>
            <a:ext cx="3931920" cy="22860"/>
          </a:xfrm>
          <a:prstGeom prst="rect">
            <a:avLst/>
          </a:prstGeom>
          <a:solidFill>
            <a:srgbClr val="2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3355847"/>
            <a:ext cx="39776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E4F0"/>
                </a:solidFill>
                <a:latin typeface="Tahoma"/>
              </a:rPr>
              <a:t>✦ ทำไม: เพราะ JSON อ่านง่าย รองรับภาษาไทย (ensure_ascii=False) และเป็นมาตรฐานสากลที่ Python รองรับในตัว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059935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88CC"/>
                </a:solidFill>
                <a:latin typeface="Tahoma"/>
              </a:rPr>
              <a:t>⌨ วิธีใช้: json.dumps(data, ensure_ascii=False)  |  json.loads(raw)  →  ส่งเป็น dict โดยตรง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4846320"/>
            <a:ext cx="9144000" cy="27432"/>
          </a:xfrm>
          <a:prstGeom prst="rect">
            <a:avLst/>
          </a:prstGeom>
          <a:solidFill>
            <a:srgbClr val="22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988CC"/>
                </a:solidFill>
                <a:latin typeface="Tahoma"/>
              </a:rPr>
              <a:t>Server ออกแบบมาให้รองรับ Multi-Client  •  Error handling ครบทุก case  •  Graceful shutdown ด้วย Ctrl+C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66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866EE"/>
                </a:solidFill>
                <a:latin typeface="Tahoma"/>
              </a:rPr>
              <a:t>🎨  เทคนิคที่ใช้ฝั่ง Client &amp; Fortune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40080"/>
            <a:ext cx="4206240" cy="347472"/>
          </a:xfrm>
          <a:prstGeom prst="rect">
            <a:avLst/>
          </a:prstGeom>
          <a:solidFill>
            <a:srgbClr val="66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ahoma"/>
              </a:rPr>
              <a:t>💻  CLIENT TECHNIQUES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78992"/>
            <a:ext cx="4206240" cy="804672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078992"/>
            <a:ext cx="45720" cy="804672"/>
          </a:xfrm>
          <a:prstGeom prst="rect">
            <a:avLst/>
          </a:prstGeom>
          <a:solidFill>
            <a:srgbClr val="88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12471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8866EE"/>
                </a:solidFill>
                <a:latin typeface="Tahoma"/>
              </a:rPr>
              <a:t>customtkinter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463039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4F0"/>
                </a:solidFill>
                <a:latin typeface="Tahoma"/>
              </a:rPr>
              <a:t>GUI Framework สมัยใหม่ ธีม Dark Mode พร้อม
Widget ที่สวยงามกว่า tkinter ปกติ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011680"/>
            <a:ext cx="4206240" cy="804672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011680"/>
            <a:ext cx="45720" cy="804672"/>
          </a:xfrm>
          <a:prstGeom prst="rect">
            <a:avLst/>
          </a:prstGeom>
          <a:solidFill>
            <a:srgbClr val="88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05740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8866EE"/>
                </a:solidFill>
                <a:latin typeface="Tahoma"/>
              </a:rPr>
              <a:t>OOP (Class)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39572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4F0"/>
                </a:solidFill>
                <a:latin typeface="Tahoma"/>
              </a:rPr>
              <a:t>FortuneApp extends CTk — จัดการทุกหน้าจอ
ในคลาสเดียว ง่ายต่อการ maintain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944368"/>
            <a:ext cx="4206240" cy="804672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2944368"/>
            <a:ext cx="45720" cy="804672"/>
          </a:xfrm>
          <a:prstGeom prst="rect">
            <a:avLst/>
          </a:prstGeom>
          <a:solidFill>
            <a:srgbClr val="88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990087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8866EE"/>
                </a:solidFill>
                <a:latin typeface="Tahoma"/>
              </a:rPr>
              <a:t>threading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328415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4F0"/>
                </a:solidFill>
                <a:latin typeface="Tahoma"/>
              </a:rPr>
              <a:t>fetch_fortune() รันใน Thread แยก ป้องกัน
GUI ค้างขณะรอ Server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877056"/>
            <a:ext cx="4206240" cy="804672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877056"/>
            <a:ext cx="45720" cy="804672"/>
          </a:xfrm>
          <a:prstGeom prst="rect">
            <a:avLst/>
          </a:prstGeom>
          <a:solidFill>
            <a:srgbClr val="88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92277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8866EE"/>
                </a:solidFill>
                <a:latin typeface="Tahoma"/>
              </a:rPr>
              <a:t>Animation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26110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4F0"/>
                </a:solidFill>
                <a:latin typeface="Tahoma"/>
              </a:rPr>
              <a:t>blink_widget(), typewriter_effect(),
animate_pixel_progress(), animate_cat_float()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640080"/>
            <a:ext cx="4206240" cy="347472"/>
          </a:xfrm>
          <a:prstGeom prst="rect">
            <a:avLst/>
          </a:prstGeom>
          <a:solidFill>
            <a:srgbClr val="CC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658368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ahoma"/>
              </a:rPr>
              <a:t>🔮  FORTUNE ENGINE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1078992"/>
            <a:ext cx="4206240" cy="804672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09160" y="1078992"/>
            <a:ext cx="45720" cy="804672"/>
          </a:xfrm>
          <a:prstGeom prst="rect">
            <a:avLst/>
          </a:prstGeom>
          <a:solidFill>
            <a:srgbClr val="CC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8" y="112471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CC3366"/>
                </a:solidFill>
                <a:latin typeface="Tahoma"/>
              </a:rPr>
              <a:t>Zodiac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4608" y="1463039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4F0"/>
                </a:solidFill>
                <a:latin typeface="Tahoma"/>
              </a:rPr>
              <a:t>คำนวณราศีจากวันเกิด 12 ราศี แบ่ง 4 ธาตุ
(ไฟ/ดิน/ลม/น้ำ) ใช้เป็นตัวเลือก template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2011680"/>
            <a:ext cx="4206240" cy="804672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09160" y="2011680"/>
            <a:ext cx="45720" cy="804672"/>
          </a:xfrm>
          <a:prstGeom prst="rect">
            <a:avLst/>
          </a:prstGeom>
          <a:solidFill>
            <a:srgbClr val="CC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64608" y="205740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CC3366"/>
                </a:solidFill>
                <a:latin typeface="Tahoma"/>
              </a:rPr>
              <a:t>Numerology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4608" y="239572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4F0"/>
                </a:solidFill>
                <a:latin typeface="Tahoma"/>
              </a:rPr>
              <a:t>รวมตัวเลขในวันเกิดซ้ำจนเหลือ 1 หลัก
เป็น เลขมงคล ตามหลัก Numerology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2944368"/>
            <a:ext cx="4206240" cy="804672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09160" y="2944368"/>
            <a:ext cx="45720" cy="804672"/>
          </a:xfrm>
          <a:prstGeom prst="rect">
            <a:avLst/>
          </a:prstGeom>
          <a:solidFill>
            <a:srgbClr val="CC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64608" y="2990087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CC3366"/>
                </a:solidFill>
                <a:latin typeface="Tahoma"/>
              </a:rPr>
              <a:t>Deterministic Random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4608" y="3328415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4F0"/>
                </a:solidFill>
                <a:latin typeface="Tahoma"/>
              </a:rPr>
              <a:t>seed = sum(ord(c) for name+birthdate+category)
คนเดิม วันเดิม ได้ผลดวงเดิมทุกครั้ง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09160" y="3877056"/>
            <a:ext cx="4206240" cy="804672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09160" y="3877056"/>
            <a:ext cx="45720" cy="804672"/>
          </a:xfrm>
          <a:prstGeom prst="rect">
            <a:avLst/>
          </a:prstGeom>
          <a:solidFill>
            <a:srgbClr val="CC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64608" y="392277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CC3366"/>
                </a:solidFill>
                <a:latin typeface="Tahoma"/>
              </a:rPr>
              <a:t>ReportLab PDF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4608" y="426110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4F0"/>
                </a:solidFill>
                <a:latin typeface="Tahoma"/>
              </a:rPr>
              <a:t>สร้าง PDF สไตล์ Dark Theme ด้วย reportlab
รองรับฟอนต์ภาษาไทย (Sarabun) + Word Wrap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4846320"/>
            <a:ext cx="9144000" cy="27432"/>
          </a:xfrm>
          <a:prstGeom prst="rect">
            <a:avLst/>
          </a:prstGeom>
          <a:solidFill>
            <a:srgbClr val="66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988CC"/>
                </a:solidFill>
                <a:latin typeface="Tahoma"/>
              </a:rPr>
              <a:t>GUI + Backend เชื่อมกันผ่าน TCP  •  Animation ทำงานด้วย after()  •  PDF บันทึกอัตโนมัติในโฟลเดอร์ client/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CC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CAA00"/>
                </a:solidFill>
                <a:latin typeface="Tahoma"/>
              </a:rPr>
              <a:t>★  ผลลัพธ์ที่ได้จากโปรเจกต์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58368"/>
            <a:ext cx="1965960" cy="10515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58368"/>
            <a:ext cx="1965960" cy="54864"/>
          </a:xfrm>
          <a:prstGeom prst="rect">
            <a:avLst/>
          </a:prstGeom>
          <a:solidFill>
            <a:srgbClr val="66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13232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6644CC"/>
                </a:solidFill>
                <a:latin typeface="Tahoma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89888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E4F0"/>
                </a:solidFill>
                <a:latin typeface="Tahoma"/>
              </a:rPr>
              <a:t>ไฟล์ Python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0591" y="658368"/>
            <a:ext cx="1965960" cy="10515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50591" y="658368"/>
            <a:ext cx="1965960" cy="54864"/>
          </a:xfrm>
          <a:prstGeom prst="rect">
            <a:avLst/>
          </a:prstGeom>
          <a:solidFill>
            <a:srgbClr val="CC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1" y="713232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CC3366"/>
                </a:solidFill>
                <a:latin typeface="Tahom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1" y="1389888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E4F0"/>
                </a:solidFill>
                <a:latin typeface="Tahoma"/>
              </a:rPr>
              <a:t>หมวดหมู่ดวง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26864" y="658368"/>
            <a:ext cx="1965960" cy="10515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26864" y="658368"/>
            <a:ext cx="1965960" cy="54864"/>
          </a:xfrm>
          <a:prstGeom prst="rect">
            <a:avLst/>
          </a:prstGeom>
          <a:solidFill>
            <a:srgbClr val="33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713232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77DD"/>
                </a:solidFill>
                <a:latin typeface="Tahoma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1389888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E4F0"/>
                </a:solidFill>
                <a:latin typeface="Tahoma"/>
              </a:rPr>
              <a:t>ราศีที่รองรับ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03136" y="658368"/>
            <a:ext cx="1965960" cy="10515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03136" y="658368"/>
            <a:ext cx="1965960" cy="54864"/>
          </a:xfrm>
          <a:prstGeom prst="rect">
            <a:avLst/>
          </a:prstGeom>
          <a:solidFill>
            <a:srgbClr val="22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713232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2BB66"/>
                </a:solidFill>
                <a:latin typeface="Tahom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3136" y="1389888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E4F0"/>
                </a:solidFill>
                <a:latin typeface="Tahoma"/>
              </a:rPr>
              <a:t>ธาตุ (ไฟ/ดิน/ลม/น้ำ)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1874519"/>
            <a:ext cx="8686800" cy="347472"/>
          </a:xfrm>
          <a:prstGeom prst="rect">
            <a:avLst/>
          </a:prstGeom>
          <a:solidFill>
            <a:srgbClr val="1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1892807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017"/>
                </a:solidFill>
                <a:latin typeface="Tahoma"/>
              </a:rPr>
              <a:t>🖥  การทำงานของโปรแกรม (Screen Flow)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286000"/>
            <a:ext cx="1508760" cy="64008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2286000"/>
            <a:ext cx="1508760" cy="45720"/>
          </a:xfrm>
          <a:prstGeom prst="rect">
            <a:avLst/>
          </a:prstGeom>
          <a:solidFill>
            <a:srgbClr val="66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" y="2340864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644CC"/>
                </a:solidFill>
                <a:latin typeface="Tahoma"/>
              </a:rPr>
              <a:t>หน้าต้อนรับ
(Welcome)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22860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A2A5A"/>
                </a:solidFill>
                <a:latin typeface="Tahoma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94560" y="2286000"/>
            <a:ext cx="1508760" cy="64008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94560" y="2286000"/>
            <a:ext cx="1508760" cy="45720"/>
          </a:xfrm>
          <a:prstGeom prst="rect">
            <a:avLst/>
          </a:prstGeom>
          <a:solidFill>
            <a:srgbClr val="33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4560" y="2340864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77DD"/>
                </a:solidFill>
                <a:latin typeface="Tahoma"/>
              </a:rPr>
              <a:t>กรอกข้อมูล
(Form)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22860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A2A5A"/>
                </a:solidFill>
                <a:latin typeface="Tahoma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2286000"/>
            <a:ext cx="1508760" cy="64008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2286000"/>
            <a:ext cx="1508760" cy="45720"/>
          </a:xfrm>
          <a:prstGeom prst="rect">
            <a:avLst/>
          </a:prstGeom>
          <a:solidFill>
            <a:srgbClr val="CC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60520" y="2340864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C3366"/>
                </a:solidFill>
                <a:latin typeface="Tahoma"/>
              </a:rPr>
              <a:t>กำลังทำนาย
(Loading)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22860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A2A5A"/>
                </a:solidFill>
                <a:latin typeface="Tahoma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286000"/>
            <a:ext cx="1508760" cy="64008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2286000"/>
            <a:ext cx="1508760" cy="45720"/>
          </a:xfrm>
          <a:prstGeom prst="rect">
            <a:avLst/>
          </a:prstGeom>
          <a:solidFill>
            <a:srgbClr val="CC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2340864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CAA00"/>
                </a:solidFill>
                <a:latin typeface="Tahoma"/>
              </a:rPr>
              <a:t>ผลดวง
(Result)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22860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A2A5A"/>
                </a:solidFill>
                <a:latin typeface="Tahoma"/>
              </a:rPr>
              <a:t>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2440" y="2286000"/>
            <a:ext cx="1508760" cy="64008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92440" y="2286000"/>
            <a:ext cx="1508760" cy="45720"/>
          </a:xfrm>
          <a:prstGeom prst="rect">
            <a:avLst/>
          </a:prstGeom>
          <a:solidFill>
            <a:srgbClr val="22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92440" y="2340864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2BB66"/>
                </a:solidFill>
                <a:latin typeface="Tahoma"/>
              </a:rPr>
              <a:t>พิมพ์
PDF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3063240"/>
            <a:ext cx="4206240" cy="6858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8600" y="3063240"/>
            <a:ext cx="45720" cy="685800"/>
          </a:xfrm>
          <a:prstGeom prst="rect">
            <a:avLst/>
          </a:prstGeom>
          <a:solidFill>
            <a:srgbClr val="33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311810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77DD"/>
                </a:solidFill>
                <a:latin typeface="Tahoma"/>
              </a:rPr>
              <a:t>✅  ระบบ Multi-Client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3429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88CC"/>
                </a:solidFill>
                <a:latin typeface="Tahoma"/>
              </a:rPr>
              <a:t>รองรับ Client หลายคนพร้อมกัน ผ่าน Thread แยกสำหรับแต่ละ Connection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09160" y="3063240"/>
            <a:ext cx="4206240" cy="6858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09160" y="3063240"/>
            <a:ext cx="45720" cy="685800"/>
          </a:xfrm>
          <a:prstGeom prst="rect">
            <a:avLst/>
          </a:prstGeom>
          <a:solidFill>
            <a:srgbClr val="66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46320" y="311810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644CC"/>
                </a:solidFill>
                <a:latin typeface="Tahoma"/>
              </a:rPr>
              <a:t>✅  Pixel Art GUI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3429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88CC"/>
                </a:solidFill>
                <a:latin typeface="Tahoma"/>
              </a:rPr>
              <a:t>UI สไตล์ Retro RPG พร้อม Animation ลื่นไหล CRT Scanline Effect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3904488"/>
            <a:ext cx="4206240" cy="6858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8600" y="3904488"/>
            <a:ext cx="45720" cy="685800"/>
          </a:xfrm>
          <a:prstGeom prst="rect">
            <a:avLst/>
          </a:prstGeom>
          <a:solidFill>
            <a:srgbClr val="CC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395935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AA00"/>
                </a:solidFill>
                <a:latin typeface="Tahoma"/>
              </a:rPr>
              <a:t>✅  PDF Export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42702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88CC"/>
                </a:solidFill>
                <a:latin typeface="Tahoma"/>
              </a:rPr>
              <a:t>ออกรายงานผลดวงเป็น PDF สวยงาม รองรับภาษาไทย เปิดดูได้ทุก Platform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09160" y="3904488"/>
            <a:ext cx="4206240" cy="6858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709160" y="3904488"/>
            <a:ext cx="45720" cy="685800"/>
          </a:xfrm>
          <a:prstGeom prst="rect">
            <a:avLst/>
          </a:prstGeom>
          <a:solidFill>
            <a:srgbClr val="22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46320" y="395935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BB66"/>
                </a:solidFill>
                <a:latin typeface="Tahoma"/>
              </a:rPr>
              <a:t>✅  Input Validation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42702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88CC"/>
                </a:solidFill>
                <a:latin typeface="Tahoma"/>
              </a:rPr>
              <a:t>ตรวจสอบ Input ครบทุก field ด้วย Regex แจ้ง error แบบ real-time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0" y="4846320"/>
            <a:ext cx="9144000" cy="27432"/>
          </a:xfrm>
          <a:prstGeom prst="rect">
            <a:avLst/>
          </a:prstGeom>
          <a:solidFill>
            <a:srgbClr val="CC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988CC"/>
                </a:solidFill>
                <a:latin typeface="Tahoma"/>
              </a:rPr>
              <a:t>โปรแกรมทดสอบแล้วกับ Client จริง  •  PDF ที่สร้างรองรับฟอนต์ไทย Sarabun  •  Error ทุก case ได้รับการ Handle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8595360" cy="475488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8595360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4873752"/>
            <a:ext cx="8595360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82880"/>
            <a:ext cx="64008" cy="4754880"/>
          </a:xfrm>
          <a:prstGeom prst="rect">
            <a:avLst/>
          </a:prstGeom>
          <a:solidFill>
            <a:srgbClr val="66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05672" y="182880"/>
            <a:ext cx="64008" cy="4754880"/>
          </a:xfrm>
          <a:prstGeom prst="rect">
            <a:avLst/>
          </a:prstGeom>
          <a:solidFill>
            <a:srgbClr val="66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747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4A017"/>
                </a:solidFill>
                <a:latin typeface="Tahoma"/>
              </a:rPr>
              <a:t>★  ✦  ◆  ✦  ★  ✦  ◆  ✦  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58368"/>
            <a:ext cx="1280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0" b="0">
                <a:solidFill>
                  <a:srgbClr val="D4A017"/>
                </a:solidFill>
                <a:latin typeface="Tahoma"/>
              </a:rPr>
              <a:t>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D4A017"/>
                </a:solidFill>
                <a:latin typeface="Tahoma"/>
              </a:rPr>
              <a:t>สรุปโปรเจกต์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66EE"/>
                </a:solidFill>
                <a:latin typeface="Tahoma"/>
              </a:rPr>
              <a:t>นำโชค Fortune Teller — ระบบดูดวงแบบ Client-Server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2542032"/>
            <a:ext cx="5486400" cy="36576"/>
          </a:xfrm>
          <a:prstGeom prst="rect">
            <a:avLst/>
          </a:prstGeom>
          <a:solidFill>
            <a:srgbClr val="2A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9748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4A017"/>
                </a:solidFill>
                <a:latin typeface="Tahoma"/>
              </a:rPr>
              <a:t>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72491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4F0"/>
                </a:solidFill>
                <a:latin typeface="Tahoma"/>
              </a:rPr>
              <a:t>Python TCP Socket + Multi-threading ทำให้รองรับ Client หลายคนพร้อมกัน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4A017"/>
                </a:solidFill>
                <a:latin typeface="Tahoma"/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13639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4F0"/>
                </a:solidFill>
                <a:latin typeface="Tahoma"/>
              </a:rPr>
              <a:t>Regex Validator กรองข้อมูลผิดทุกกรณี ก่อนส่งเข้า Fortune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2044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4A017"/>
                </a:solidFill>
                <a:latin typeface="Tahoma"/>
              </a:rPr>
              <a:t>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54787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4F0"/>
                </a:solidFill>
                <a:latin typeface="Tahoma"/>
              </a:rPr>
              <a:t>Fortune Engine ใช้ Zodiac, Numerology, และ Deterministic Seed ทำนายดวงอย่างสม่ำเสมอ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319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4A017"/>
                </a:solidFill>
                <a:latin typeface="Tahoma"/>
              </a:rPr>
              <a:t>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9593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4F0"/>
                </a:solidFill>
                <a:latin typeface="Tahoma"/>
              </a:rPr>
              <a:t>customtkinter GUI สไตล์ Pixel Art + Animation 5 ประเภท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434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4A017"/>
                </a:solidFill>
                <a:latin typeface="Tahoma"/>
              </a:rPr>
              <a:t>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37083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4F0"/>
                </a:solidFill>
                <a:latin typeface="Tahoma"/>
              </a:rPr>
              <a:t>ReportLab สร้าง PDF ผลดวงพร้อมฟอนต์ไทย Sarabun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4A017"/>
                </a:solidFill>
                <a:latin typeface="Tahoma"/>
              </a:rPr>
              <a:t>★  ✦  ◆  ✦  ★  ✦  ◆  ✦  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